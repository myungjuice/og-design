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DS-2" initials="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954" y="-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04T14:39:14.020" idx="1">
    <p:pos x="4522" y="2314"/>
    <p:text>룰렛 확률은 1회 평균 14.93M이 나오도록 6구간으로 설계했습니다. 꽝 구간은 두지 않았습니다. 최소 5M이라도 지급하는 편이 재참여율에 유리하고, "꽝"이라는 표현 자체가 사행성 인식을 강화하기 때문입니다.
확률표는 게임 화면 우측 상단 물음표에서 언제든 전문을 볼 수 있게 했습니다. 확률을 공개하고, 결과를 서버에서 확정하고, 지급 상한을 명시하는 세 가지가 사행성 방어의 기본 조건입니다.
확률 테이블은 반드시 관리자 웹에서 실시간으로 조정할 수 있어야 합니다. 하드코딩하면 예산이 초과됐을 때 앱 업데이트 없이는 손을 쓸 수 없습니다.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04T14:39:51.291" idx="2">
    <p:pos x="4498" y="2180"/>
    <p:text>퍼즐은 추첨이 아니라 실력 기반이라 확률이 아닌 점수 구간으로 지급합니다. 주간 랭킹을 폐지했기 때문에 점수 비례 지급이 유일한 보상 통로가 됩니다.
평균 20~25M을 목표로 구간을 잡았습니다. 룰렛 기댓값이 15M인데 퍼즐이 지나치게 높으면 모두 퍼즐만 하게 되고, 반대로 너무 낮으면 60초를 쓸 이유가 없어 퍼즐이 사장됩니다. 실력 게임이니 조금 더 주되, 시간 대비 효율은 룰렛이 앞서도록 두는 것이 균형점입니다.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0CB41-FDB6-4795-8CCF-4E6A52CEBEC9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7AC69-6893-4147-9793-2219500079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57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오지고랜드 유저앱 UI 개편 화면 시안 보고. 하단 5탭 중 2개 탭을 신설하고 나머지를 개선하는 내용입니다.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탭 이름 2개가 바뀌고, 마일리지와 핫플 자리에 새 탭이 들어갑니다. 핵심 수치는 건드리지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홈은 구조를 그대로 두고 신규 회원점 배지만 추가합니다.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2.xml"/><Relationship Id="rId5" Type="http://schemas.openxmlformats.org/officeDocument/2006/relationships/image" Target="../media/image9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27.jpe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5852160" cy="5852160"/>
          </a:xfrm>
          <a:prstGeom prst="roundRect">
            <a:avLst>
              <a:gd name="adj" fmla="val 50000"/>
            </a:avLst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778240" y="3566160"/>
            <a:ext cx="5120640" cy="5120640"/>
          </a:xfrm>
          <a:prstGeom prst="roundRect">
            <a:avLst>
              <a:gd name="adj" fmla="val 50000"/>
            </a:avLst>
          </a:prstGeom>
          <a:solidFill>
            <a:srgbClr val="152C63"/>
          </a:solidFill>
          <a:ln w="12700">
            <a:solidFill>
              <a:srgbClr val="152C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OGGO LAND  ·  USER 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84832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개편 화면 시안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41248" y="3127248"/>
            <a:ext cx="137160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3401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5탭 전면 개편   ·   변경 전 / 변경 후 비교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 03.        선행 문서  오지고랜드_유저앱_UIUX_리뉴얼_기획안 v1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하단 탭 5개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명칭 2건 변경, 탭 2개 신설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4980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3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786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8950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63824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49808" y="369417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49808" y="3694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3308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회원점 표시 추가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16936" y="192024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0F2456"/>
          </a:solidFill>
          <a:ln w="12700">
            <a:solidFill>
              <a:srgbClr val="0F2456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3118104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25786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strike="sngStrike" dirty="0">
                <a:solidFill>
                  <a:srgbClr val="8E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마일리지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118104" y="288950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18104" y="3163824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마이랜드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118104" y="369417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118104" y="3694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118104" y="413308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 · 미니게임 신설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85232" y="192024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4864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3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5786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바코드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288950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163824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바코드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486400" y="369417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5486400" y="3694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413308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 노출 강화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53528" y="192024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0F2456"/>
          </a:solidFill>
          <a:ln w="12700">
            <a:solidFill>
              <a:srgbClr val="0F2456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854696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854696" y="25786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strike="sngStrike" dirty="0">
                <a:solidFill>
                  <a:srgbClr val="8E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핫플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854696" y="288950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854696" y="3163824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오지파크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854696" y="369417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7854696" y="3694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신설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854696" y="413308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폐지 후 전면 신설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21824" y="192024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0222992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3C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222992" y="257860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OG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222992" y="288950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222992" y="3163824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정보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0222992" y="369417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0222992" y="3694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개편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222992" y="4133088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전면 재구성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13892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749808" y="5266944"/>
            <a:ext cx="10689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" y="5541264"/>
            <a:ext cx="1068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수치 불변 — 적립 3% / 업주 부담 4% / 추천수당 0.2% / 사용 5,000원 단위        게임 참여 기회는 실제 적립에서 발생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재원은 결제 수수료와 완전 분리 (회사 마케팅비 + 앱내 광고 수익)        바텀시트 원칙 — 이탈 없이 확인 후 닫기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무엇이 달라지나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영역의 변경 요지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2139696"/>
            <a:ext cx="310896" cy="310896"/>
          </a:xfrm>
          <a:prstGeom prst="ellipse">
            <a:avLst/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4980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139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명칭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396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OG → 내 정보  ·  마일리지 → 마이랜드  ·  핫플 → 오지파크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9808" y="2926080"/>
            <a:ext cx="310896" cy="310896"/>
          </a:xfrm>
          <a:prstGeom prst="ellipse">
            <a:avLst/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4980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926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9260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"페이(PAY)" 전면 삭제, 마일리지(M)로 단일화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9808" y="3712464"/>
            <a:ext cx="310896" cy="310896"/>
          </a:xfrm>
          <a:prstGeom prst="ellipse">
            <a:avLst/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49808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7124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71246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가능 · 보유 마일리지 · 공유 적립 3분할 + 5,000원 단위 진행바 신설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49808" y="4498848"/>
            <a:ext cx="310896" cy="310896"/>
          </a:xfrm>
          <a:prstGeom prst="ellipse">
            <a:avLst/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49808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498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4988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OG티켓 매개 구조 — 출석 · 적립으로 티켓 획득, 티켓으로 게임 참여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114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9808" y="5285232"/>
            <a:ext cx="310896" cy="310896"/>
          </a:xfrm>
          <a:prstGeom prst="ellipse">
            <a:avLst/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749808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528523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업종 최대 3개 선택, 오지고랜드 미등록 매장도 글 작성 가능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 — 신규 회원점 표시 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구조는 유지하고 탐색 단서만 보강</a:t>
            </a:r>
            <a:endParaRPr lang="en-US" sz="1300" dirty="0"/>
          </a:p>
        </p:txBody>
      </p:sp>
      <p:pic>
        <p:nvPicPr>
          <p:cNvPr id="5" name="Image 0" descr="/home/claude/deck/img/b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700" y="1965960"/>
            <a:ext cx="1832040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9601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</a:t>
            </a:r>
            <a:endParaRPr lang="en-US" sz="1150" dirty="0"/>
          </a:p>
        </p:txBody>
      </p:sp>
      <p:pic>
        <p:nvPicPr>
          <p:cNvPr id="7" name="Image 1" descr="/home/claude/deck/img/a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51" y="1965960"/>
            <a:ext cx="2238499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8862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949440" y="1874520"/>
            <a:ext cx="46908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7150608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260336" y="2404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핀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247888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회원점에 NEW 배지 (등록 30일 이내)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150608" y="2862072"/>
            <a:ext cx="4297680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7260336" y="29077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탭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247888" y="29077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· 마이랜드 · 바코드 · 오지파크 · 내 정보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50608" y="3364992"/>
            <a:ext cx="4297680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 txBox="1"/>
          <p:nvPr/>
        </p:nvSpPr>
        <p:spPr>
          <a:xfrm>
            <a:off x="7260336" y="34107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외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8247888" y="34107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검색바 · 카테고리 칩 · 현 위치 버튼 유지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949440" y="4224528"/>
            <a:ext cx="4690872" cy="1737360"/>
          </a:xfrm>
          <a:prstGeom prst="roundRect">
            <a:avLst>
              <a:gd name="adj" fmla="val 3158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 txBox="1"/>
          <p:nvPr/>
        </p:nvSpPr>
        <p:spPr>
          <a:xfrm>
            <a:off x="7150608" y="435254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의견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150608" y="4626864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표시는 4개 안(대형 / 중형 / 원본 유지 / 소형)을 비교해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유지형을 채택했습니다. 배지가 핀 아이콘을 가리지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않으면서 인지가 되는 균형점입니다.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핀만으로는 정보량이 제한적이므로, 하단 리스트 카드에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오픈일과 리뷰 키워드를 함께 노출하는 방안을 권장합니다.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MY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마이랜드 — 마일리지 탭 대체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숫자만 보고 나가던 화면을 매일 여는 화면으로</a:t>
            </a:r>
            <a:endParaRPr lang="en-US" sz="1300" dirty="0"/>
          </a:p>
        </p:txBody>
      </p:sp>
      <p:pic>
        <p:nvPicPr>
          <p:cNvPr id="5" name="Image 0" descr="/home/claude/deck/img/b_mile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700" y="1965960"/>
            <a:ext cx="1832040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9601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— 마일리지</a:t>
            </a:r>
            <a:endParaRPr lang="en-US" sz="1150" dirty="0"/>
          </a:p>
        </p:txBody>
      </p:sp>
      <p:pic>
        <p:nvPicPr>
          <p:cNvPr id="7" name="Image 1" descr="/home/claude/deck/img/a_l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51" y="1965960"/>
            <a:ext cx="2238499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8862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 — 마이랜드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0872" cy="1975104"/>
        </p:xfrm>
        <a:graphic>
          <a:graphicData uri="http://schemas.openxmlformats.org/drawingml/2006/table">
            <a:tbl>
              <a:tblPr/>
              <a:tblGrid>
                <a:gridCol w="685800"/>
                <a:gridCol w="1481328"/>
                <a:gridCol w="2523744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숫자 확인 후 종료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매일 여는 습관 화면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마일리지 / 페이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가능 · 티켓 · 공유 3분할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월간 캘린더 + 마일스톤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룰렛 · 퍼즐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주간 미션 4종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949440" y="4160520"/>
            <a:ext cx="4690872" cy="1801368"/>
          </a:xfrm>
          <a:prstGeom prst="roundRect">
            <a:avLst>
              <a:gd name="adj" fmla="val 3046"/>
            </a:avLst>
          </a:prstGeom>
          <a:solidFill>
            <a:srgbClr val="FDF2F1"/>
          </a:solidFill>
          <a:ln w="12700">
            <a:solidFill>
              <a:srgbClr val="E833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7"/>
          <p:cNvSpPr txBox="1"/>
          <p:nvPr/>
        </p:nvSpPr>
        <p:spPr>
          <a:xfrm>
            <a:off x="7150608" y="4288536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필요 사항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150608" y="4562856"/>
            <a:ext cx="42885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캘린더 선물 아이콘 위치 오류 — 현재 1~6 · 13 · 14 · 29일에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표시. 마일스톤은 7 · 14 · 21 · 30일입니다.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미션 문구 오타 — "최원점" → "회원점"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게임 티켓 비용이 룰렛 · 퍼즐 모두 1티켓입니다. 룰렛 5초,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퍼즐 60초 소요로 시간 대비 보상이 불균형합니다.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MY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출석 체크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티켓으로 지급해 예산을 확률로 통제</a:t>
            </a:r>
            <a:endParaRPr lang="en-US" sz="1300" dirty="0"/>
          </a:p>
        </p:txBody>
      </p:sp>
      <p:pic>
        <p:nvPicPr>
          <p:cNvPr id="5" name="Image 0" descr="/home/claude/deck/img/a_at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85" y="2103120"/>
            <a:ext cx="2161309" cy="384048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7724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출석 완료</a:t>
            </a:r>
            <a:endParaRPr lang="en-US" sz="1150" dirty="0"/>
          </a:p>
        </p:txBody>
      </p:sp>
      <p:pic>
        <p:nvPicPr>
          <p:cNvPr id="7" name="Image 1" descr="/home/claude/deck/img/a_milest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665" y="2103120"/>
            <a:ext cx="2161309" cy="384048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4747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달성 (7일)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1874520"/>
            <a:ext cx="491947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692200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031736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보상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110728" y="240487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OG티켓 1장 (마일리지 직접 지급 없음)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922008" y="2724912"/>
            <a:ext cx="451713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7031736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110728" y="277063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티켓 3장+50M / 14일 5장+100M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22008" y="3090672"/>
            <a:ext cx="451713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 txBox="1"/>
          <p:nvPr/>
        </p:nvSpPr>
        <p:spPr>
          <a:xfrm>
            <a:off x="7031736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스트릭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110728" y="313639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미출석 시 리셋, 보호권 월 1장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922008" y="3456432"/>
            <a:ext cx="451713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7031736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동선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110728" y="350215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 완료 → 바로 룰렛 돌리기 CTA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720840" y="4114800"/>
            <a:ext cx="4919472" cy="1847088"/>
          </a:xfrm>
          <a:prstGeom prst="roundRect">
            <a:avLst>
              <a:gd name="adj" fmla="val 2970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6922008" y="4242816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출석에 마일리지를 직접 주지 않는가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922008" y="4517136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출석은 결제와 무관한 행위이므로 여기서 나가는 마일리지는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마케팅 비용입니다.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티켓으로 지급하면 (a) 지급 총량을 확률로 통제할 수 있고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게임 단계를 거치며 체류시간이 늘고 (c) 게임 화면에서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"적립하면 티켓 더" CTA를 노출할 수 있습니다.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MY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미니게임 ①  룰렛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 광장 톤으로 설계해 카지노 인상을 배제</a:t>
            </a:r>
            <a:endParaRPr lang="en-US" sz="1300" dirty="0"/>
          </a:p>
        </p:txBody>
      </p:sp>
      <p:pic>
        <p:nvPicPr>
          <p:cNvPr id="5" name="Image 0" descr="/home/claude/deck/img/a_rou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5" y="1965960"/>
            <a:ext cx="2058390" cy="36576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32004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진입</a:t>
            </a:r>
            <a:endParaRPr lang="en-US" sz="1150" dirty="0"/>
          </a:p>
        </p:txBody>
      </p:sp>
      <p:pic>
        <p:nvPicPr>
          <p:cNvPr id="7" name="Image 1" descr="/home/claude/deck/img/a_rou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565" y="1965960"/>
            <a:ext cx="2058390" cy="36576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42316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진행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452628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결과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7223760" y="1874520"/>
            <a:ext cx="4416552" cy="1645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7"/>
          <p:cNvSpPr txBox="1"/>
          <p:nvPr/>
        </p:nvSpPr>
        <p:spPr>
          <a:xfrm>
            <a:off x="742492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424928" y="2340864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 1장 차감 → 결과 확정 → 지급을 단일 트랜잭션으로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꽝 구간 없음 — 최소 5M 지급이 재참여율에 유리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확률표 전문은 우측 상단 물음표에서 상시 확인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테이블은 관리자 웹에서 실시간 조정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424928" y="3657600"/>
            <a:ext cx="4014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구간 — 기댓값 14.93M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graphicFrame>
        <p:nvGraphicFramePr>
          <p:cNvPr id="900" name="Table P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931920"/>
          <a:ext cx="4416552" cy="215392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  <a:gridCol w="1472184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기여 기댓값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" name="Picture 2" descr="C:\Users\KDS-2\Desktop\기타 자료\앱 업데이트\앱 화면 ui 이미지\마이랜드\룰렛 결과화면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78" y="1965960"/>
            <a:ext cx="207000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MY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미니게임 ②  퍼즐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 매치3 · 점수 비례 마일리지 지급</a:t>
            </a:r>
            <a:endParaRPr lang="en-US" sz="1300" dirty="0"/>
          </a:p>
        </p:txBody>
      </p:sp>
      <p:pic>
        <p:nvPicPr>
          <p:cNvPr id="5" name="Image 0" descr="/home/claude/deck/img/a_puz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5" y="1965960"/>
            <a:ext cx="2058390" cy="36576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32004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진입</a:t>
            </a:r>
            <a:endParaRPr lang="en-US" sz="1150" dirty="0"/>
          </a:p>
        </p:txBody>
      </p:sp>
      <p:pic>
        <p:nvPicPr>
          <p:cNvPr id="7" name="Image 1" descr="/home/claude/deck/img/a_puz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565" y="1965960"/>
            <a:ext cx="2058390" cy="36576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42316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플레이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4526280" y="5678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결과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7223760" y="1874520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7"/>
          <p:cNvSpPr txBox="1"/>
          <p:nvPr/>
        </p:nvSpPr>
        <p:spPr>
          <a:xfrm>
            <a:off x="7424928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424928" y="230428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 제한, 같은 열매 3개 매칭 (매치3 방식)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랭킹 폐지 — 점수 비례 마일리지 지급으로 전환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7424928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· 마일리지 환산표   [확인 필요]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675887"/>
          <a:ext cx="4416552" cy="1270000"/>
        </p:xfrm>
        <a:graphic>
          <a:graphicData uri="http://schemas.openxmlformats.org/drawingml/2006/table">
            <a:tbl>
              <a:tblPr/>
              <a:tblGrid>
                <a:gridCol w="2651760"/>
                <a:gridCol w="1764792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 구간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1,000점 미만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~ 2,000점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~ 3,000점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3,000점 이상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7223760" y="5029200"/>
            <a:ext cx="4416552" cy="932688"/>
          </a:xfrm>
          <a:prstGeom prst="roundRect">
            <a:avLst>
              <a:gd name="adj" fmla="val 5000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 txBox="1"/>
          <p:nvPr/>
        </p:nvSpPr>
        <p:spPr>
          <a:xfrm>
            <a:off x="7424928" y="5148072"/>
            <a:ext cx="4014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424928" y="5394960"/>
            <a:ext cx="4014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룰렛 기댓값 15M 대비 퍼즐 평균은 20~25M이 균형점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높으면 모두 퍼즐만 하고, 너무 낮으면 60초를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 이유가 없어 퍼즐이 사장됩니다.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pic>
        <p:nvPicPr>
          <p:cNvPr id="21" name="Picture 2" descr="C:\Users\KDS-2\Desktop\기타 자료\앱 업데이트\앱 화면 ui 이미지\마이랜드\룰렛 결과화면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78" y="1965960"/>
            <a:ext cx="207000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MY LAND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보상 경제 — 티켓 구조와 상한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기회는 실제 적립에서만 발생하고, 지급은 3단으로 제한합니다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sp>
        <p:nvSpPr>
          <p:cNvPr id="801" name="S801"/>
          <p:cNvSpPr/>
          <p:nvPr/>
        </p:nvSpPr>
        <p:spPr>
          <a:xfrm>
            <a:off x="548640" y="1874519"/>
            <a:ext cx="11091672" cy="786384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2" name="S802"/>
          <p:cNvSpPr txBox="1"/>
          <p:nvPr/>
        </p:nvSpPr>
        <p:spPr>
          <a:xfrm>
            <a:off x="548640" y="210312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적립 · 출석   →   OG티켓 획득   →   룰렛 · 퍼즐 참여   →   마일리지 지급</a:t>
            </a:r>
            <a:endParaRPr lang="en-US" sz="1300" dirty="0"/>
          </a:p>
        </p:txBody>
      </p:sp>
      <p:sp>
        <p:nvSpPr>
          <p:cNvPr id="803" name="S803"/>
          <p:cNvSpPr txBox="1"/>
          <p:nvPr/>
        </p:nvSpPr>
        <p:spPr>
          <a:xfrm>
            <a:off x="548640" y="2971800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 발행 규칙</a:t>
            </a:r>
            <a:endParaRPr lang="en-US" sz="1300" dirty="0"/>
          </a:p>
        </p:txBody>
      </p:sp>
      <p:graphicFrame>
        <p:nvGraphicFramePr>
          <p:cNvPr id="804" name="S8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541264" cy="1884680"/>
        </p:xfrm>
        <a:graphic>
          <a:graphicData uri="http://schemas.openxmlformats.org/drawingml/2006/table">
            <a:tbl>
              <a:tblPr/>
              <a:tblGrid>
                <a:gridCol w="2157984"/>
                <a:gridCol w="1280160"/>
                <a:gridCol w="21031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일일 출석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1일 1회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영수증 적립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1일 3장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후기 작성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3회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친구 첫 적립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무제한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 참여 완료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이벤트당 1회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출석 마일스톤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3~10장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14 · 21 · 30일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5" name="S805"/>
          <p:cNvSpPr txBox="1"/>
          <p:nvPr/>
        </p:nvSpPr>
        <p:spPr>
          <a:xfrm>
            <a:off x="548640" y="5166360"/>
            <a:ext cx="5541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 유효기간 14일 · 일일 플레이 상한 6회 (게임 종류 무관 통합)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실행만으로는 마일리지가 늘지 않습니다.</a:t>
            </a:r>
            <a:endParaRPr lang="en-US" sz="1150" dirty="0"/>
          </a:p>
        </p:txBody>
      </p:sp>
      <p:sp>
        <p:nvSpPr>
          <p:cNvPr id="806" name="S806"/>
          <p:cNvSpPr txBox="1"/>
          <p:nvPr/>
        </p:nvSpPr>
        <p:spPr>
          <a:xfrm>
            <a:off x="6345936" y="2971800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 총량 상한 — 3단 구조</a:t>
            </a:r>
            <a:endParaRPr lang="en-US" sz="1300" dirty="0"/>
          </a:p>
        </p:txBody>
      </p:sp>
      <p:graphicFrame>
        <p:nvGraphicFramePr>
          <p:cNvPr id="807" name="S8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3291840"/>
          <a:ext cx="5541264" cy="1076960"/>
        </p:xfrm>
        <a:graphic>
          <a:graphicData uri="http://schemas.openxmlformats.org/drawingml/2006/table">
            <a:tbl>
              <a:tblPr/>
              <a:tblGrid>
                <a:gridCol w="1188720"/>
                <a:gridCol w="2157984"/>
                <a:gridCol w="219456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초과 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일일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티켓 6장 소비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버튼 비활성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월간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이후 티켓 · 뱃지로만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전사 월간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(마케팅비 + 광고수익) × 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관리자 웹에서 확률 하향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8" name="S808"/>
          <p:cNvSpPr/>
          <p:nvPr/>
        </p:nvSpPr>
        <p:spPr>
          <a:xfrm>
            <a:off x="6345936" y="4434840"/>
            <a:ext cx="5541264" cy="137160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9" name="S809"/>
          <p:cNvSpPr txBox="1"/>
          <p:nvPr/>
        </p:nvSpPr>
        <p:spPr>
          <a:xfrm>
            <a:off x="6547104" y="4572000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1300" dirty="0"/>
          </a:p>
        </p:txBody>
      </p:sp>
      <p:sp>
        <p:nvSpPr>
          <p:cNvPr id="810" name="S810"/>
          <p:cNvSpPr txBox="1"/>
          <p:nvPr/>
        </p:nvSpPr>
        <p:spPr>
          <a:xfrm>
            <a:off x="6547104" y="4846320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출석은 결제와 무관 — 마일리지 직접 지급은 순수 마케팅 비용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티켓으로 주면 총량을 확률로 통제하고 체류시간이 늘어남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테이블은 관리자 웹에서 조정 (하드코딩 시 예산 대응 불가)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BARCODE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바코드 — 잔액 노출 강화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직전 화면 · 5,000원 단위 진행바 신설</a:t>
            </a:r>
            <a:endParaRPr lang="en-US" sz="1300" dirty="0"/>
          </a:p>
        </p:txBody>
      </p:sp>
      <p:pic>
        <p:nvPicPr>
          <p:cNvPr id="5" name="Image 0" descr="/home/claude/deck/img/b_ba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700" y="1965960"/>
            <a:ext cx="1832040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9601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— OG PAY</a:t>
            </a:r>
            <a:endParaRPr lang="en-US" sz="1150" dirty="0"/>
          </a:p>
        </p:txBody>
      </p:sp>
      <p:pic>
        <p:nvPicPr>
          <p:cNvPr id="7" name="Image 1" descr="/home/claude/deck/img/a_bar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51" y="1965960"/>
            <a:ext cx="2238499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8862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 — 바코드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0872" cy="1645920"/>
        </p:xfrm>
        <a:graphic>
          <a:graphicData uri="http://schemas.openxmlformats.org/drawingml/2006/table">
            <a:tbl>
              <a:tblPr/>
              <a:tblGrid>
                <a:gridCol w="713232"/>
                <a:gridCol w="1600200"/>
                <a:gridCol w="23774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 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 · 닉네임 삭제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PAY / 5,000원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12,400M / 10,000M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5,000원 단위 진행바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1.2~1.6배 확대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949440" y="3703320"/>
            <a:ext cx="4690872" cy="2258568"/>
          </a:xfrm>
          <a:prstGeom prst="roundRect">
            <a:avLst>
              <a:gd name="adj" fmla="val 2429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7"/>
          <p:cNvSpPr txBox="1"/>
          <p:nvPr/>
        </p:nvSpPr>
        <p:spPr>
          <a:xfrm>
            <a:off x="7150608" y="3831336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150608" y="4105656"/>
            <a:ext cx="428853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기획안에서 "마일리지 탭이 사라지면 잔액을 어디서 보나"에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 답으로 3중 노출을 정의했습니다.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바코드 상단 / 마이랜드 요약 / 내 정보 3분할이며,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5,000원 단위 진행 표시의 최종 위치는 바코드 화면입니다.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화면은 결제 직전 화면이므로 광고를 절대 넣지 않습니다.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회원점 클레임으로 직결됩니다.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OGGO PARK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오지파크 — 핫플 탭 폐지 후 </a:t>
            </a:r>
            <a:r>
              <a:rPr lang="en-US" sz="3000" b="1" dirty="0" err="1" smtClean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신설</a:t>
            </a:r>
            <a:r>
              <a:rPr lang="en-US" sz="3000" b="1" dirty="0" smtClean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3000" b="1" dirty="0" smtClean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페이지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· 공모전 · 커뮤니티 3구역 구성</a:t>
            </a:r>
            <a:endParaRPr lang="en-US" sz="1300" dirty="0"/>
          </a:p>
        </p:txBody>
      </p:sp>
      <p:pic>
        <p:nvPicPr>
          <p:cNvPr id="5" name="Image 0" descr="/home/claude/deck/img/b_hot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700" y="1965960"/>
            <a:ext cx="1832040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9601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— 핫플</a:t>
            </a:r>
            <a:endParaRPr lang="en-US" sz="1150" dirty="0"/>
          </a:p>
        </p:txBody>
      </p:sp>
      <p:pic>
        <p:nvPicPr>
          <p:cNvPr id="7" name="Image 1" descr="/home/claude/deck/img/a_p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51" y="1965960"/>
            <a:ext cx="2238499" cy="397764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8862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 — 오지파크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949440" y="1874520"/>
            <a:ext cx="469087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7150608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핫플 폐지 사유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50608" y="22860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순서 노출 — 사용자가 볼 이유가 없음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회원점은 영구히 하단에 위치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화면에 매장 한 곳만 노출, 탐색 효율 낮음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이관 없이 폐지, /hotplace 는 리다이렉트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150608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오지파크 구성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4206240"/>
          <a:ext cx="4690872" cy="1554480"/>
        </p:xfrm>
        <a:graphic>
          <a:graphicData uri="http://schemas.openxmlformats.org/drawingml/2006/table">
            <a:tbl>
              <a:tblPr/>
              <a:tblGrid>
                <a:gridCol w="1463040"/>
                <a:gridCol w="322783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참여형, 기간 있음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공모전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경쟁형, 심사 있음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커뮤니티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상시 운영, 업종별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관심 업종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커뮤니티 진입 동선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OGGO PARK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이벤트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초기에는 결제형을 기본값으로 운영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32004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— 결제형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211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인증 방식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83788"/>
              </p:ext>
            </p:extLst>
          </p:nvPr>
        </p:nvGraphicFramePr>
        <p:xfrm>
          <a:off x="6446520" y="2377440"/>
          <a:ext cx="5193792" cy="1243584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2286000"/>
                <a:gridCol w="98755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 방식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응모형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참여하기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1탭 응모 후 추첨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다계정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결제형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참여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 내 적립 시 자동 인증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방문형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방문 인증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100m + 60초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스푸핑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46520" y="3950208"/>
            <a:ext cx="5193792" cy="2011680"/>
          </a:xfrm>
          <a:prstGeom prst="roundRect">
            <a:avLst>
              <a:gd name="adj" fmla="val 2727"/>
            </a:avLst>
          </a:prstGeom>
          <a:solidFill>
            <a:srgbClr val="FDF2F1"/>
          </a:solidFill>
          <a:ln w="12700">
            <a:solidFill>
              <a:srgbClr val="E833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647688" y="407822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필요 사항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47688" y="4352544"/>
            <a:ext cx="4791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altLang="ko-KR" sz="1100" dirty="0" smtClean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100" dirty="0" smtClean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초기화면 특정 매장 이벤트가 아닌 본사 자체에서 주최하는 </a:t>
            </a:r>
            <a:r>
              <a:rPr lang="ko-KR" altLang="en-US" sz="1100" dirty="0" smtClean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이벤트로 </a:t>
            </a: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</a:t>
            </a: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lnSpc>
                <a:spcPts val="1500"/>
              </a:lnSpc>
            </a:pP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페이지 </a:t>
            </a:r>
            <a:r>
              <a:rPr lang="ko-KR" altLang="en-US" sz="1100" dirty="0" err="1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적립률을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높이는 것이 아닌 </a:t>
            </a: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적립 </a:t>
            </a:r>
            <a:r>
              <a:rPr lang="en-US" altLang="ko-KR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</a:t>
            </a:r>
            <a:r>
              <a:rPr lang="ko-KR" alt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되는 것으로 수정 </a:t>
            </a:r>
            <a:endParaRPr lang="en-US" altLang="ko-KR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 smtClean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pic>
        <p:nvPicPr>
          <p:cNvPr id="16" name="Picture 2" descr="C:\Users\KDS-2\Desktop\기타 자료\앱 업데이트\앱 화면 ui 이미지\오지파크\이벤트 상세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75" y="1683399"/>
            <a:ext cx="2406650" cy="427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C:\Users\KDS-2\Desktop\기타 자료\앱 업데이트\앱 화면 ui 이미지\오지파크\이벤트 초기화면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" y="1683399"/>
            <a:ext cx="2397760" cy="42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OGGO PARK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공모전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· 영상 · 그림 출품 후 심사, 상품은 마일리지 지급</a:t>
            </a:r>
            <a:endParaRPr lang="en-US" sz="1300" dirty="0"/>
          </a:p>
        </p:txBody>
      </p:sp>
      <p:pic>
        <p:nvPicPr>
          <p:cNvPr id="5" name="Image 0" descr="/home/claude/deck/img/a_c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64" y="1965960"/>
            <a:ext cx="1749631" cy="310896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18288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</a:t>
            </a:r>
            <a:endParaRPr lang="en-US" sz="1150" dirty="0"/>
          </a:p>
        </p:txBody>
      </p:sp>
      <p:pic>
        <p:nvPicPr>
          <p:cNvPr id="7" name="Image 1" descr="/home/claude/deck/img/a_c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184" y="1965960"/>
            <a:ext cx="1749631" cy="310896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05740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</a:t>
            </a:r>
            <a:endParaRPr lang="en-US" sz="1150" dirty="0"/>
          </a:p>
        </p:txBody>
      </p:sp>
      <p:pic>
        <p:nvPicPr>
          <p:cNvPr id="9" name="Image 2" descr="/home/claude/deck/img/a_c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704" y="1965960"/>
            <a:ext cx="1749631" cy="310896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393192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중</a:t>
            </a:r>
            <a:endParaRPr lang="en-US" sz="1150" dirty="0"/>
          </a:p>
        </p:txBody>
      </p:sp>
      <p:pic>
        <p:nvPicPr>
          <p:cNvPr id="11" name="Image 3" descr="/home/claude/deck/img/a_ct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224" y="1965960"/>
            <a:ext cx="1749631" cy="310896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580644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발표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8366760" y="1874520"/>
            <a:ext cx="3273552" cy="4087368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8"/>
          <p:cNvSpPr txBox="1"/>
          <p:nvPr/>
        </p:nvSpPr>
        <p:spPr>
          <a:xfrm>
            <a:off x="8567928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567928" y="2331720"/>
            <a:ext cx="28712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형식이 다양하므로 목록에 형식 배지로 구분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 / 심사 중 / 종료 3단계 세그먼트로 마감 후 공백을 메움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중 화면은 내 출품작이 최상단 — 정상 접수 확인이 방문 목적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상품은 마일리지 지급 (1등 5,000M / 2등 3,000M / 3등 1,000M)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현물 경품은 사행성 검토에서 불리하므로 마일리지 원칙 유지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OGGO PARK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커뮤니티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업종 최대 3개 · 미등록 매장도 작성 가능</a:t>
            </a:r>
            <a:endParaRPr lang="en-US" sz="1300" dirty="0"/>
          </a:p>
        </p:txBody>
      </p:sp>
      <p:pic>
        <p:nvPicPr>
          <p:cNvPr id="5" name="Image 0" descr="/home/claude/deck/img/a_c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6" y="2011680"/>
            <a:ext cx="2212769" cy="393192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029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업종 선택</a:t>
            </a:r>
            <a:endParaRPr lang="en-US" sz="1150" dirty="0"/>
          </a:p>
        </p:txBody>
      </p:sp>
      <p:pic>
        <p:nvPicPr>
          <p:cNvPr id="7" name="Image 1" descr="/home/claude/deck/img/a_c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616" y="2011680"/>
            <a:ext cx="2212769" cy="393192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004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 목록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46520" y="1874520"/>
            <a:ext cx="51937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6647688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757416" y="23774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 선택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882128" y="2377440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24개 중 최대 3개, 검색 · 건너뛰기 제공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47688" y="2715768"/>
            <a:ext cx="479145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6757416" y="2761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882128" y="276148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3개 업종이 상단 탭으로 구성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47688" y="3099816"/>
            <a:ext cx="479145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 txBox="1"/>
          <p:nvPr/>
        </p:nvSpPr>
        <p:spPr>
          <a:xfrm>
            <a:off x="6757416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882128" y="314553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동네 5km 기준, 최신순 / 인기순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647688" y="3483864"/>
            <a:ext cx="4791456" cy="0"/>
          </a:xfrm>
          <a:prstGeom prst="line">
            <a:avLst/>
          </a:prstGeom>
          <a:noFill/>
          <a:ln w="9525">
            <a:solidFill>
              <a:srgbClr val="DDE5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6757416" y="35295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태그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882128" y="3529584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회원점 / 일반 매장 배지로 구분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46520" y="4224528"/>
            <a:ext cx="5193792" cy="1737360"/>
          </a:xfrm>
          <a:prstGeom prst="roundRect">
            <a:avLst>
              <a:gd name="adj" fmla="val 3158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6647688" y="435254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미등록 매장 허용의 부수 효과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647688" y="4626864"/>
            <a:ext cx="4791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가게 아직 오지고랜드에 없는데 좋다"는 글이 쌓이면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영업 리드가 됩니다.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웹에 "커뮤니티 언급 미등록 매장" 리스트를 만들면,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회원이 담당매니저의 영업 리스트를 대신 만들어주는 구조가 됩니다.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MY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정보 — My OG 전면 개편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3개 분량 스크롤을 1.5개로 축소</a:t>
            </a:r>
            <a:endParaRPr lang="en-US" sz="1300" dirty="0"/>
          </a:p>
        </p:txBody>
      </p:sp>
      <p:pic>
        <p:nvPicPr>
          <p:cNvPr id="5" name="Image 0" descr="/home/claude/deck/img/b_myo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8" y="2240280"/>
            <a:ext cx="1389823" cy="301752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-137160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상단</a:t>
            </a:r>
            <a:endParaRPr lang="en-US" sz="1150" dirty="0"/>
          </a:p>
        </p:txBody>
      </p:sp>
      <p:pic>
        <p:nvPicPr>
          <p:cNvPr id="7" name="Image 1" descr="/home/claude/deck/img/b_myo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008" y="2240280"/>
            <a:ext cx="1389823" cy="301752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1417320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중단</a:t>
            </a:r>
            <a:endParaRPr lang="en-US" sz="1150" dirty="0"/>
          </a:p>
        </p:txBody>
      </p:sp>
      <p:pic>
        <p:nvPicPr>
          <p:cNvPr id="9" name="Image 2" descr="/home/claude/deck/img/b_myo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88" y="2240280"/>
            <a:ext cx="1389823" cy="301752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2971800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 하단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138928" y="3703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3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5166360" y="5312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 — 내 정보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8686800" y="1874520"/>
            <a:ext cx="2953512" cy="4087368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9"/>
          <p:cNvSpPr txBox="1"/>
          <p:nvPr/>
        </p:nvSpPr>
        <p:spPr>
          <a:xfrm>
            <a:off x="8869680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8869680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8869680" y="2542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trike="sngStrike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1/3 차지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8869680" y="2743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 · 마스코트 아바타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8869680" y="3044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8869680" y="32552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trike="sngStrike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마일리지 / 페이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8869680" y="3456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3분할 + 진행바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869680" y="3758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방문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869680" y="39684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trike="sngStrike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상태 문구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8869680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카드 + 후기 CTA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869680" y="44714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8869680" y="4681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trike="sngStrike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없는 8개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869680" y="4882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6버튼 그리드 (2×3)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869680" y="51846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8869680" y="5394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trike="sngStrike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3개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869680" y="5596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1.5개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pic>
        <p:nvPicPr>
          <p:cNvPr id="2050" name="Picture 2" descr="C:\Users\KDS-2\Desktop\기타 자료\앱 업데이트\앱 화면 ui 이미지\내정보\내정보 초기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942" y="2234342"/>
            <a:ext cx="1704035" cy="30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MY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프로필 캐릭터 선택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마스코트 3종 중 1개를 골라 프로필과 멤버십 인증서에 사용</a:t>
            </a:r>
            <a:endParaRPr lang="en-US" sz="1300" dirty="0"/>
          </a:p>
        </p:txBody>
      </p:sp>
      <p:pic>
        <p:nvPicPr>
          <p:cNvPr id="16" name="Picture 15" descr="마스코트_미선택_화면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36" y="2011680"/>
            <a:ext cx="2212769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내 정보 — 미선택 유도</a:t>
            </a:r>
            <a:endParaRPr lang="en-US" sz="1150" dirty="0"/>
          </a:p>
        </p:txBody>
      </p:sp>
      <p:pic>
        <p:nvPicPr>
          <p:cNvPr id="17" name="Picture 16" descr="select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616" y="2011680"/>
            <a:ext cx="2212769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5998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프로필 캐릭터 선택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1901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마스코트 3종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178185"/>
              </p:ext>
            </p:extLst>
          </p:nvPr>
        </p:nvGraphicFramePr>
        <p:xfrm>
          <a:off x="6446520" y="2194560"/>
          <a:ext cx="5193792" cy="1046480"/>
        </p:xfrm>
        <a:graphic>
          <a:graphicData uri="http://schemas.openxmlformats.org/drawingml/2006/table">
            <a:tbl>
              <a:tblPr/>
              <a:tblGrid>
                <a:gridCol w="777240"/>
                <a:gridCol w="2404872"/>
                <a:gridCol w="201168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4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하와이안 셔츠 · 산호 반바지 · 샌들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느긋하고 든든한 친구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펭귄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노란 후드티 · 청 반바지 · 운동화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부지런하고 야무진 친구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너구리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카키 조끼 · 카고 반바지 · 등산화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호기심 많고 재빠른 친구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sp>
        <p:nvSpPr>
          <p:cNvPr id="705" name="CardM"/>
          <p:cNvSpPr/>
          <p:nvPr/>
        </p:nvSpPr>
        <p:spPr>
          <a:xfrm>
            <a:off x="6446520" y="3401568"/>
            <a:ext cx="5193792" cy="25603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06" name="LabelM"/>
          <p:cNvSpPr txBox="1"/>
          <p:nvPr/>
        </p:nvSpPr>
        <p:spPr>
          <a:xfrm>
            <a:off x="6647688" y="352958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760" name="BodyM"/>
          <p:cNvSpPr txBox="1"/>
          <p:nvPr/>
        </p:nvSpPr>
        <p:spPr>
          <a:xfrm>
            <a:off x="6647688" y="3840480"/>
            <a:ext cx="47914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시 강제 선택하지 않고 내 정보 아바타에서 유도 — 단계가 길어지면 이탈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범위는 Phase 1에서 프로필과 멤버십 인증서까지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연출까지 3종이면 에셋 21개 이상 필요 — Phase 2로 이연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탭으로 선택 완료, 언제든 변경 가능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[확인 필요] 캐릭터 이름과 성격 문구는 브랜드팀 확정 전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15623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MY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바텀시트 8종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이동이 아니라 시트로 열어 이탈 없이 확인 후 닫기</a:t>
            </a:r>
            <a:endParaRPr lang="en-US" sz="1300" dirty="0"/>
          </a:p>
        </p:txBody>
      </p:sp>
      <p:pic>
        <p:nvPicPr>
          <p:cNvPr id="5" name="Image 0" descr="/home/claude/deck/img/a_my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3" y="1993392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-137160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내정보</a:t>
            </a:r>
            <a:endParaRPr lang="en-US" sz="1150" dirty="0"/>
          </a:p>
        </p:txBody>
      </p:sp>
      <p:pic>
        <p:nvPicPr>
          <p:cNvPr id="7" name="Image 1" descr="/home/claude/deck/img/a_my_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611" y="1993392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1435608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이용내역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3008376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50" b="1" dirty="0" smtClean="0">
                <a:solidFill>
                  <a:srgbClr val="6B7A8F"/>
                </a:solidFill>
                <a:latin typeface="Calibri" pitchFamily="34" charset="0"/>
                <a:cs typeface="Calibri" pitchFamily="34" charset="-120"/>
              </a:rPr>
              <a:t>서비스</a:t>
            </a:r>
            <a:endParaRPr lang="en-US" altLang="ko-KR" sz="1150" dirty="0"/>
          </a:p>
        </p:txBody>
      </p:sp>
      <p:pic>
        <p:nvPicPr>
          <p:cNvPr id="11" name="Image 3" descr="/home/claude/deck/img/a_my_no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147" y="1993392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4581144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</a:t>
            </a:r>
            <a:endParaRPr lang="en-US" sz="1150" dirty="0"/>
          </a:p>
        </p:txBody>
      </p:sp>
      <p:pic>
        <p:nvPicPr>
          <p:cNvPr id="13" name="Image 4" descr="/home/claude/deck/img/a_my_no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43" y="4160520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-137160" y="6044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알림</a:t>
            </a:r>
            <a:endParaRPr lang="en-US" sz="1150" dirty="0"/>
          </a:p>
        </p:txBody>
      </p:sp>
      <p:pic>
        <p:nvPicPr>
          <p:cNvPr id="15" name="Image 5" descr="/home/claude/deck/img/a_my_m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2611" y="4160520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6" name="Text 8"/>
          <p:cNvSpPr txBox="1"/>
          <p:nvPr/>
        </p:nvSpPr>
        <p:spPr>
          <a:xfrm>
            <a:off x="1435608" y="6044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</a:t>
            </a:r>
            <a:endParaRPr lang="en-US" sz="1150" dirty="0"/>
          </a:p>
        </p:txBody>
      </p:sp>
      <p:pic>
        <p:nvPicPr>
          <p:cNvPr id="17" name="Image 6" descr="/home/claude/deck/img/a_my_q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5379" y="4160520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18" name="Text 9"/>
          <p:cNvSpPr txBox="1"/>
          <p:nvPr/>
        </p:nvSpPr>
        <p:spPr>
          <a:xfrm>
            <a:off x="3008376" y="6044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문의하기</a:t>
            </a:r>
            <a:endParaRPr lang="en-US" sz="1150" dirty="0"/>
          </a:p>
        </p:txBody>
      </p:sp>
      <p:pic>
        <p:nvPicPr>
          <p:cNvPr id="19" name="Image 7" descr="/home/claude/deck/img/a_my_s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8147" y="4160520"/>
            <a:ext cx="1029195" cy="1828800"/>
          </a:xfrm>
          <a:prstGeom prst="rect">
            <a:avLst/>
          </a:prstGeom>
          <a:effectLst>
            <a:outerShdw blurRad="127000" dist="25400" dir="5400000" algn="bl" rotWithShape="0">
              <a:srgbClr val="8899AA">
                <a:alpha val="35000"/>
              </a:srgbClr>
            </a:outerShdw>
          </a:effectLst>
        </p:spPr>
      </p:pic>
      <p:sp>
        <p:nvSpPr>
          <p:cNvPr id="20" name="Text 10"/>
          <p:cNvSpPr txBox="1"/>
          <p:nvPr/>
        </p:nvSpPr>
        <p:spPr>
          <a:xfrm>
            <a:off x="4581144" y="6044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1150" dirty="0"/>
          </a:p>
        </p:txBody>
      </p:sp>
      <p:sp>
        <p:nvSpPr>
          <p:cNvPr id="21" name="Shape 11"/>
          <p:cNvSpPr/>
          <p:nvPr/>
        </p:nvSpPr>
        <p:spPr>
          <a:xfrm>
            <a:off x="7452360" y="1874520"/>
            <a:ext cx="4187952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2"/>
          <p:cNvSpPr txBox="1"/>
          <p:nvPr/>
        </p:nvSpPr>
        <p:spPr>
          <a:xfrm>
            <a:off x="7653528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7653528" y="2331720"/>
            <a:ext cx="3785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이용내역 — 예약 · 웨이팅 · Q오더 · 리뷰 4탭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마일리지 내역 — 3분할 카드를 탭하면 열림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— 공지 / 내 알림 2탭으로 여백 해소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 — 공유코드 단일 창구, 내정보에서는 제거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멤버십 — QR코드 추가로 오프라인 공유 대응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문의하기 — FAQ · 문의 · 고객센터 등 6그리드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— 알림 5종, 야간 알림은 별도 동의 항목</a:t>
            </a:r>
            <a:endParaRPr lang="en-US" sz="1150" dirty="0"/>
          </a:p>
        </p:txBody>
      </p:sp>
      <p:sp>
        <p:nvSpPr>
          <p:cNvPr id="24" name="Shape 14"/>
          <p:cNvSpPr/>
          <p:nvPr/>
        </p:nvSpPr>
        <p:spPr>
          <a:xfrm>
            <a:off x="7452360" y="5029200"/>
            <a:ext cx="4187952" cy="932688"/>
          </a:xfrm>
          <a:prstGeom prst="roundRect">
            <a:avLst>
              <a:gd name="adj" fmla="val 5882"/>
            </a:avLst>
          </a:prstGeom>
          <a:solidFill>
            <a:srgbClr val="FDF2F1"/>
          </a:solidFill>
          <a:ln w="12700">
            <a:solidFill>
              <a:srgbClr val="E833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5"/>
          <p:cNvSpPr txBox="1"/>
          <p:nvPr/>
        </p:nvSpPr>
        <p:spPr>
          <a:xfrm>
            <a:off x="7653528" y="515721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7653528" y="543153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마일리지 내역 진입 안내가 현재 메인 화면에 없습니다.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카드에 화살표 또는 "내역 보기" 링크 추가가 필요합니다.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  <p:pic>
        <p:nvPicPr>
          <p:cNvPr id="1026" name="Picture 2" descr="C:\Users\KDS-2\Desktop\기타 자료\앱 업데이트\앱 화면 ui 이미지\내정보\내정보 초기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379" y="1971624"/>
            <a:ext cx="1047803" cy="186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수정 사항  9건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시안 단계에서 정리해야 개발로 넘어가지 않습니다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211226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020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마이랜드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선물 아이콘을 7 · 14 · 21 · 30일로 수정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92024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28816" y="211226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528816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20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마이랜드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문구 오타 — "최원점" → "회원점"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1520" y="293522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315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룰렛 결과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비트코인 마크 코인을 마일리지 코인으로 교체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45936" y="274320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528816" y="293522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528816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공모전 목록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3번 카드 내용 중복, "에어팟" 표기 오류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31520" y="375818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7315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상세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3895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회원점 카드에 매장명 대신 이벤트 정보 삽입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45936" y="356616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528816" y="375818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528816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상세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895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 오타 — "운영립니다", "적립립니다"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31520" y="458114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731520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" y="4489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 아바타가 전원 동일 캐릭터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45936" y="438912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528816" y="458114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6528816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4489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 선택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아이콘이 업종과 불일치 — 아이콘 세트 재지정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212080"/>
            <a:ext cx="554126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31520" y="5404104"/>
            <a:ext cx="310896" cy="310896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3152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152144" y="53126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정보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" y="5541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6버튼 · 탭바 아이콘 불일치 — 세트 재지정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결정이 필요한 사항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재원과 상한이 정해져야 나머지가 풀립니다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49808" y="2121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B5FE0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49808" y="2121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15184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마일리지 내역 진입 동선 안내 방식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게임별 티켓 비용 차등 여부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퍼즐 점수-마일리지 환산표 구간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적립 2배 이벤트 추가분 재원 주체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3984" y="19202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45152" y="2121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B7C99"/>
          </a:solidFill>
          <a:ln w="12700">
            <a:solidFill>
              <a:srgbClr val="5B7C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645152" y="2121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615184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· 웨이팅 · Q오더 운영 여부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미등록 매장 입력 방식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 세트 확정 및 적용 범위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9328" y="19202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12700" dir="5400000" algn="bl" rotWithShape="0">
              <a:srgbClr val="AAB6C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540496" y="2121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332A"/>
          </a:solidFill>
          <a:ln w="12700">
            <a:solidFill>
              <a:srgbClr val="E833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540496" y="2121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· 법무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40496" y="2615184"/>
            <a:ext cx="32552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재원 월 배정 절대 금액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· 월 지급 총량 상한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공모전 심사 · 저작권 · 도용 검증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룰렛 등 추첨형 요소 사행성 검토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47488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F1F6FE"/>
          </a:solidFill>
          <a:ln w="12700">
            <a:solidFill>
              <a:srgbClr val="3B5F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49808" y="5175504"/>
            <a:ext cx="10689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449824"/>
            <a:ext cx="10689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보상 재원 배정 금액과 지급 총량 상한을 먼저 확정합니다. 이것이 정해져야 확률표와 보상량을 역산할 수 있습니다.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사행성 법무 검토를 병렬로 착수합니다. 검토 결과에 따라 미니게임 구성이 바뀔 수 있습니다.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화면 수정 사항 9건을 반영한 뒤 개발 상세 설계로 넘어갑니다.        4.  Phase 1(구조 개편 + 룰렛 1종) 우선 배포 후 4주 KPI 관측.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오지고랜드 유저앱 UI 개편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2156</Words>
  <Application>Microsoft Office PowerPoint</Application>
  <PresentationFormat>사용자 지정</PresentationFormat>
  <Paragraphs>521</Paragraphs>
  <Slides>19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KDS-2</cp:lastModifiedBy>
  <cp:revision>3</cp:revision>
  <dcterms:created xsi:type="dcterms:W3CDTF">2026-09-03T07:36:37Z</dcterms:created>
  <dcterms:modified xsi:type="dcterms:W3CDTF">2026-09-04T05:54:46Z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Z_DOC_VERSION">
    <vt:lpwstr>1.0</vt:lpwstr>
  </property>
  <property fmtid="{D5CDD505-2E9C-101B-9397-08002B2CF9AE}" pid="3" name="OZ_DOC_UI_LASTSTATE">
    <vt:lpwstr>{}</vt:lpwstr>
  </property>
</Properties>
</file>